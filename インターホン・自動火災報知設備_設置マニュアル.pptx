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eiryo"/>
              </a:defRPr>
            </a:pPr>
            <a:r>
              <a:t>インターホン・自動火災報知設備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eiryo"/>
              </a:defRPr>
            </a:pPr>
            <a:r>
              <a:t>設置マニュアル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566160"/>
            <a:ext cx="3017520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CCEE"/>
                </a:solidFill>
                <a:latin typeface="Meiryo"/>
              </a:defRPr>
            </a:pPr>
            <a:r>
              <a:t>対象機器：Panasonic シンプルP-1シリーズ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AACC"/>
                </a:solidFill>
                <a:latin typeface="Meiryo"/>
              </a:defRPr>
            </a:pPr>
            <a:r>
              <a:t>対象読者：新入社員（初めて設備工事を行う方）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AACC"/>
                </a:solidFill>
                <a:latin typeface="Meiryo"/>
              </a:defRPr>
            </a:pPr>
            <a:r>
              <a:t>作成日：2026年6月17日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目次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640080" cy="64008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221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71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Meiryo"/>
              </a:defRPr>
            </a:pPr>
            <a:r>
              <a:t>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026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何のための作業か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560320"/>
            <a:ext cx="640080" cy="64008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36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585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Meiryo"/>
              </a:defRPr>
            </a:pPr>
            <a:r>
              <a:t>事前準備・前提条件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941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必要な資格・工具・部材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474720"/>
            <a:ext cx="640080" cy="64008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50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500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Meiryo"/>
              </a:defRPr>
            </a:pPr>
            <a:r>
              <a:t>全体の大まかな流れ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855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作業フロー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389120"/>
            <a:ext cx="640080" cy="64008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5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41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Meiryo"/>
              </a:defRPr>
            </a:pPr>
            <a:r>
              <a:t>具体的な手順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77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ステップバイステップ（10ステップ）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303520"/>
            <a:ext cx="640080" cy="64008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379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2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Meiryo"/>
              </a:defRPr>
            </a:pPr>
            <a:r>
              <a:t>トラブルシューティング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684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よくある質問・注意点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1. 概要 ― 何のための作業か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eiryo"/>
              </a:defRPr>
            </a:pPr>
            <a:r>
              <a:t>この作業は、建物にインターホン（来客対応用の通話設備）と</a:t>
            </a:r>
            <a:br/>
            <a:r>
              <a:t>自動火災報知設備（火災を自動で検知し、警報を出す装置）を設置するものです。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5029200" cy="32004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Meiryo"/>
              </a:defRPr>
            </a:pPr>
            <a:r>
              <a:t>シンプルP-1シリーズとは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- インターホン機能と自動火災報知機能を一体化した受信機（親機）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- 各階・各部屋に設置する感知器（火災センサー）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- ベル（警報音を鳴らす装置）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- スピーカー（放送用）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- ドアホン子機（玄関に取り付ける通話装置）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  などを組み合わせたシステム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743200"/>
            <a:ext cx="5029200" cy="13716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Meiryo"/>
              </a:defRPr>
            </a:pPr>
            <a:r>
              <a:t>この作業を行う理由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291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- 建物の居住者・利用者の安全を守るため（消防法に基づく義務設置）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- 来客時の通話・解錠を行うため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389120"/>
            <a:ext cx="5029200" cy="15544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Meiryo"/>
              </a:defRPr>
            </a:pPr>
            <a:r>
              <a:t>重要ポイント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937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C0392B"/>
                </a:solidFill>
                <a:latin typeface="Meiryo"/>
              </a:defRPr>
            </a:pPr>
            <a:r>
              <a:t>- 安全に関わる設備のため、手順を正確に守ってください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- 不明点は必ず上長に確認してください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2. 事前準備 ― 必要な資格・工具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029200" cy="20116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Meiryo"/>
              </a:defRPr>
            </a:pPr>
            <a:r>
              <a:t>必要な資格・許可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- 工事担任者資格 または 電気工事士資格</a:t>
            </a:r>
          </a:p>
          <a:p>
            <a:pPr>
              <a:spcAft>
                <a:spcPts val="300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  （有資格者の監督のもとで作業してください）</a:t>
            </a:r>
          </a:p>
          <a:p>
            <a:pPr>
              <a:spcAft>
                <a:spcPts val="300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- 消防設備士の資格が必要な場合あり</a:t>
            </a:r>
          </a:p>
          <a:p>
            <a:pPr>
              <a:spcAft>
                <a:spcPts val="300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  （管轄の消防署に確認してください）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  <a:latin typeface="Meiryo"/>
              </a:defRPr>
            </a:pPr>
            <a:r>
              <a:t>必要な工具一覧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06240"/>
            <a:ext cx="22860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17520" y="4206240"/>
            <a:ext cx="292608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189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工具名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2189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用途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480560"/>
            <a:ext cx="2286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17520" y="4480560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932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プラスドライバー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4932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ねじ止め全般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22860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17520" y="4754880"/>
            <a:ext cx="29260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675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マイナスドライバー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7675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端子台への配線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029199"/>
            <a:ext cx="2286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17520" y="5029199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41899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ワイヤーストリッパー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04189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電線の被覆をむく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03520"/>
            <a:ext cx="22860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17520" y="5303520"/>
            <a:ext cx="29260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162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電工ナイフ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3162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ケーブル外装をむく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577840"/>
            <a:ext cx="2286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17520" y="5577840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5905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テスター（回路計）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5905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配線の導通確認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852159"/>
            <a:ext cx="22860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17520" y="5852159"/>
            <a:ext cx="29260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864859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水平器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86485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機器を水平に取り付け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6126480"/>
            <a:ext cx="2286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17520" y="6126480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1391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ドリル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61391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壁面への穴あけ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6400800"/>
            <a:ext cx="22860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17520" y="6400800"/>
            <a:ext cx="29260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64135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脚立・はしご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64135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高所作業用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Meiryo"/>
              </a:defRPr>
            </a:pPr>
            <a:r>
              <a:t>必要な部材（施工図面で確認）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21031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333333"/>
                </a:solidFill>
                <a:latin typeface="Meiryo"/>
              </a:defRPr>
            </a:pPr>
            <a:r>
              <a:t>- 受信機（親機）</a:t>
            </a:r>
          </a:p>
          <a:p>
            <a:pPr>
              <a:spcAft>
                <a:spcPts val="10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  火災受信・インターホン制御を行う本体</a:t>
            </a:r>
          </a:p>
          <a:p>
            <a:pPr>
              <a:spcAft>
                <a:spcPts val="100"/>
              </a:spcAft>
              <a:defRPr sz="1300" b="1">
                <a:solidFill>
                  <a:srgbClr val="333333"/>
                </a:solidFill>
                <a:latin typeface="Meiryo"/>
              </a:defRPr>
            </a:pPr>
            <a:r>
              <a:t>- 感知器</a:t>
            </a:r>
          </a:p>
          <a:p>
            <a:pPr>
              <a:spcAft>
                <a:spcPts val="10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  煙や熱を検知するセンサー（天井に取り付け）</a:t>
            </a:r>
          </a:p>
          <a:p>
            <a:pPr>
              <a:spcAft>
                <a:spcPts val="100"/>
              </a:spcAft>
              <a:defRPr sz="1300" b="1">
                <a:solidFill>
                  <a:srgbClr val="333333"/>
                </a:solidFill>
                <a:latin typeface="Meiryo"/>
              </a:defRPr>
            </a:pPr>
            <a:r>
              <a:t>- 発信機</a:t>
            </a:r>
          </a:p>
          <a:p>
            <a:pPr>
              <a:spcAft>
                <a:spcPts val="10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  手動で火災信号を送る押しボタン</a:t>
            </a:r>
          </a:p>
          <a:p>
            <a:pPr>
              <a:spcAft>
                <a:spcPts val="100"/>
              </a:spcAft>
              <a:defRPr sz="1300" b="1">
                <a:solidFill>
                  <a:srgbClr val="333333"/>
                </a:solidFill>
                <a:latin typeface="Meiryo"/>
              </a:defRPr>
            </a:pPr>
            <a:r>
              <a:t>- ベル・ブザー</a:t>
            </a:r>
          </a:p>
          <a:p>
            <a:pPr>
              <a:spcAft>
                <a:spcPts val="10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  火災時に警報音を鳴らす装置</a:t>
            </a:r>
          </a:p>
          <a:p>
            <a:pPr>
              <a:spcAft>
                <a:spcPts val="100"/>
              </a:spcAft>
              <a:defRPr sz="1300" b="1">
                <a:solidFill>
                  <a:srgbClr val="333333"/>
                </a:solidFill>
                <a:latin typeface="Meiryo"/>
              </a:defRPr>
            </a:pPr>
            <a:r>
              <a:t>- スピーカー（SP）</a:t>
            </a:r>
          </a:p>
          <a:p>
            <a:pPr>
              <a:spcAft>
                <a:spcPts val="10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  放送用</a:t>
            </a:r>
          </a:p>
          <a:p>
            <a:pPr>
              <a:spcAft>
                <a:spcPts val="100"/>
              </a:spcAft>
              <a:defRPr sz="1300" b="1">
                <a:solidFill>
                  <a:srgbClr val="333333"/>
                </a:solidFill>
                <a:latin typeface="Meiryo"/>
              </a:defRPr>
            </a:pPr>
            <a:r>
              <a:t>- ドアホン子機</a:t>
            </a:r>
          </a:p>
          <a:p>
            <a:pPr>
              <a:spcAft>
                <a:spcPts val="10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  玄関等に設置する通話装置</a:t>
            </a:r>
          </a:p>
          <a:p>
            <a:pPr>
              <a:spcAft>
                <a:spcPts val="100"/>
              </a:spcAft>
              <a:defRPr sz="1300" b="1">
                <a:solidFill>
                  <a:srgbClr val="333333"/>
                </a:solidFill>
                <a:latin typeface="Meiryo"/>
              </a:defRPr>
            </a:pPr>
            <a:r>
              <a:t>- 住戸用受信機</a:t>
            </a:r>
          </a:p>
          <a:p>
            <a:pPr>
              <a:spcAft>
                <a:spcPts val="10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  各住戸内の通話・報知装置</a:t>
            </a:r>
          </a:p>
          <a:p>
            <a:pPr>
              <a:spcAft>
                <a:spcPts val="100"/>
              </a:spcAft>
              <a:defRPr sz="1300" b="1">
                <a:solidFill>
                  <a:srgbClr val="333333"/>
                </a:solidFill>
                <a:latin typeface="Meiryo"/>
              </a:defRPr>
            </a:pPr>
            <a:r>
              <a:t>- 配線用ケーブル</a:t>
            </a:r>
          </a:p>
          <a:p>
            <a:pPr>
              <a:spcAft>
                <a:spcPts val="10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  施工図面で指定された種類・本数</a:t>
            </a:r>
          </a:p>
          <a:p>
            <a:pPr>
              <a:spcAft>
                <a:spcPts val="100"/>
              </a:spcAft>
              <a:defRPr sz="1300" b="1">
                <a:solidFill>
                  <a:srgbClr val="333333"/>
                </a:solidFill>
                <a:latin typeface="Meiryo"/>
              </a:defRPr>
            </a:pPr>
            <a:r>
              <a:t>- 取付ねじ・アンカー</a:t>
            </a:r>
          </a:p>
          <a:p>
            <a:pPr>
              <a:spcAft>
                <a:spcPts val="10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  壁面固定用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2. 事前準備 ― 事前確認事項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7E22"/>
                </a:solidFill>
                <a:latin typeface="Meiryo"/>
              </a:defRPr>
            </a:pPr>
            <a:r>
              <a:t>作業開始前に必ず確認してください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41148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4155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!!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155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392B"/>
                </a:solidFill>
                <a:latin typeface="Meiryo"/>
              </a:defRPr>
            </a:pPr>
            <a:r>
              <a:t>施工図面を必ず入手し、内容を理解してから作業を開始してください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926080"/>
            <a:ext cx="411480" cy="41148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9641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9641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eiryo"/>
              </a:defRPr>
            </a:pPr>
            <a:r>
              <a:t>設置場所の壁の材質（コンクリート・石膏ボード等）を確認する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474720"/>
            <a:ext cx="411480" cy="41148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5128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5128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eiryo"/>
              </a:defRPr>
            </a:pPr>
            <a:r>
              <a:t>電源の位置と容量を確認する（AC100V電源が必要）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023359"/>
            <a:ext cx="411480" cy="41148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06145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06145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eiryo"/>
              </a:defRPr>
            </a:pPr>
            <a:r>
              <a:t>配線ルートに障害物がないか事前に現地を確認する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572000"/>
            <a:ext cx="411480" cy="41148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6101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6101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eiryo"/>
              </a:defRPr>
            </a:pPr>
            <a:r>
              <a:t>各機器の型番と数量が図面と一致しているか確認する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120640"/>
            <a:ext cx="411480" cy="41148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1587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1587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eiryo"/>
              </a:defRPr>
            </a:pPr>
            <a:r>
              <a:t>作業に必要な工具が全て揃っているか確認する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669279"/>
            <a:ext cx="411480" cy="41148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70737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70737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eiryo"/>
              </a:defRPr>
            </a:pPr>
            <a:r>
              <a:t>作業当日の天候を確認する（屋外作業がある場合）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3. 全体の大まかな流れ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1051560" cy="105156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368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47472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eiryo"/>
              </a:defRPr>
            </a:pPr>
            <a:r>
              <a:t>施工図面の確認</a:t>
            </a:r>
            <a:br/>
            <a:r>
              <a:t>現地調査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463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A7CBD"/>
                </a:solidFill>
                <a:latin typeface="Meiryo"/>
              </a:defRPr>
            </a:pPr>
            <a: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2286000"/>
            <a:ext cx="1051560" cy="105156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368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47472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eiryo"/>
              </a:defRPr>
            </a:pPr>
            <a:r>
              <a:t>受信機の設置場所</a:t>
            </a:r>
            <a:br/>
            <a:r>
              <a:t>準備・取付金具固定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2463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A7CBD"/>
                </a:solidFill>
                <a:latin typeface="Meiryo"/>
              </a:defRPr>
            </a:pPr>
            <a: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286000"/>
            <a:ext cx="1051560" cy="105156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3368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47472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eiryo"/>
              </a:defRPr>
            </a:pPr>
            <a:r>
              <a:t>各機器の取付</a:t>
            </a:r>
            <a:br/>
            <a:r>
              <a:t>(感知器・ベル等)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2463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A7CBD"/>
                </a:solidFill>
                <a:latin typeface="Meiryo"/>
              </a:defRPr>
            </a:pPr>
            <a: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2286000"/>
            <a:ext cx="1051560" cy="105156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23368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19" y="347472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eiryo"/>
              </a:defRPr>
            </a:pPr>
            <a:r>
              <a:t>配線工事</a:t>
            </a:r>
            <a:br/>
            <a:r>
              <a:t>(ケーブル接続)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1" y="2463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A7CBD"/>
                </a:solidFill>
                <a:latin typeface="Meiryo"/>
              </a:defRPr>
            </a:pPr>
            <a: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286000"/>
            <a:ext cx="1051560" cy="105156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23368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47472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eiryo"/>
              </a:defRPr>
            </a:pPr>
            <a:r>
              <a:t>受信機本体の</a:t>
            </a:r>
            <a:br/>
            <a:r>
              <a:t>取付・配線接続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2463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A7CBD"/>
                </a:solidFill>
                <a:latin typeface="Meiryo"/>
              </a:defRPr>
            </a:pPr>
            <a:r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286000"/>
            <a:ext cx="1051560" cy="105156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3368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47472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eiryo"/>
              </a:defRPr>
            </a:pPr>
            <a:r>
              <a:t>蓄電池</a:t>
            </a:r>
            <a:br/>
            <a:r>
              <a:t>の接続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2463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A7CBD"/>
                </a:solidFill>
                <a:latin typeface="Meiryo"/>
              </a:defRPr>
            </a:pPr>
            <a:r>
              <a:t>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59" y="2286000"/>
            <a:ext cx="1051560" cy="105156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59" y="23368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999" y="347472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eiryo"/>
              </a:defRPr>
            </a:pPr>
            <a:r>
              <a:t>電源投入</a:t>
            </a:r>
            <a:br/>
            <a:r>
              <a:t>動作確認テスト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1" y="2463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A7CBD"/>
                </a:solidFill>
                <a:latin typeface="Meiryo"/>
              </a:defRPr>
            </a:pPr>
            <a:r>
              <a:t>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18319" y="2286000"/>
            <a:ext cx="1051560" cy="105156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19" y="23368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59" y="347472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eiryo"/>
              </a:defRPr>
            </a:pPr>
            <a:r>
              <a:t>銘板記入</a:t>
            </a:r>
            <a:br/>
            <a:r>
              <a:t>仕上げ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97311" y="2463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A7CBD"/>
                </a:solidFill>
                <a:latin typeface="Meiryo"/>
              </a:defRPr>
            </a:pPr>
            <a:r>
              <a:t>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98480" y="2286000"/>
            <a:ext cx="1051560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98480" y="23368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347472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eiryo"/>
              </a:defRPr>
            </a:pPr>
            <a:r>
              <a:t>消防検査</a:t>
            </a:r>
            <a:br/>
            <a:r>
              <a:t>の立会い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572000"/>
            <a:ext cx="10515600" cy="16459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Meiryo"/>
              </a:defRPr>
            </a:pPr>
            <a:r>
              <a:t>作業の重要ポイント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1206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C0392B"/>
                </a:solidFill>
                <a:latin typeface="Meiryo"/>
              </a:defRPr>
            </a:pPr>
            <a:r>
              <a:t>- ステップ5「受信機への配線接続」が最も重要な工程です</a:t>
            </a:r>
          </a:p>
          <a:p>
            <a:pPr>
              <a:spcAft>
                <a:spcPts val="300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- 各ステップ完了後、次に進む前に必ず確認を行ってください</a:t>
            </a:r>
          </a:p>
          <a:p>
            <a:pPr>
              <a:spcAft>
                <a:spcPts val="300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- 不明点は自己判断せず、必ず上長に確認してください</a:t>
            </a:r>
          </a:p>
          <a:p>
            <a:pPr>
              <a:spcAft>
                <a:spcPts val="300"/>
              </a:spcAft>
              <a:defRPr sz="1500" b="0">
                <a:solidFill>
                  <a:srgbClr val="333333"/>
                </a:solidFill>
                <a:latin typeface="Meiryo"/>
              </a:defRPr>
            </a:pPr>
            <a:r>
              <a:t>- 電源に関わる作業は必ず電源OFFの状態で行ってください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4. 具体的な手順 ― ステップ1・2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ステップ1：施工図面の確認・現地調査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施工図面で以下を確認する：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・受信機の設置場所（通常は1階の管理室や玄関付近）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・各階の感知器の数と位置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・ベル・発信機の設置位置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・ドアホン子機の設置位置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・配線ルート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現地で壁の材質・スペースを確認する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C0392B"/>
                </a:solidFill>
                <a:latin typeface="Meiryo"/>
              </a:defRPr>
            </a:pPr>
            <a:r>
              <a:t>- 図面と現地が異なる場合は、必ず上長に報告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ステップ2：受信機（親機）の取付準備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壁面に取付用の穴をあける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本体外形：横370mm x 縦500mm程度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取付穴間隔：横310mm x 縦450mm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（機種により異なるため図面で確認）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壁面にアンカー（壁に固定するための部品）を打ち込む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取付板（受信機の裏板）をねじで固定する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C0392B"/>
                </a:solidFill>
                <a:latin typeface="Meiryo"/>
              </a:defRPr>
            </a:pPr>
            <a:r>
              <a:t>- 取付位置は床から約1.5mの高さに</a:t>
            </a:r>
          </a:p>
          <a:p>
            <a:pPr>
              <a:spcAft>
                <a:spcPts val="200"/>
              </a:spcAft>
              <a:defRPr sz="1400" b="1">
                <a:solidFill>
                  <a:srgbClr val="C0392B"/>
                </a:solidFill>
                <a:latin typeface="Meiryo"/>
              </a:defRPr>
            </a:pPr>
            <a:r>
              <a:t>- 水平器で水平を確認してから固定する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4. 具体的な手順 ― ステップ3・4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ステップ3：配線の引き込み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施工図面に従い、受信機設置位置まで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ケーブルを配線する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ケーブルは受信機の下部または側面の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ノックアウト穴（打ち抜き穴）から引き込む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C0392B"/>
                </a:solidFill>
                <a:latin typeface="Meiryo"/>
              </a:defRPr>
            </a:pPr>
            <a:r>
              <a:t>- ケーブルの被覆むき長さ：約12mm</a:t>
            </a:r>
          </a:p>
          <a:p>
            <a:pPr>
              <a:spcAft>
                <a:spcPts val="200"/>
              </a:spcAft>
              <a:defRPr sz="1400" b="1">
                <a:solidFill>
                  <a:srgbClr val="C0392B"/>
                </a:solidFill>
                <a:latin typeface="Meiryo"/>
              </a:defRPr>
            </a:pPr>
            <a:r>
              <a:t>- 外装むき長さ：約10mm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ケーブルをまとめて整理し、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余長（予備の長さ）を適切に取る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ステップ4：感知器の取付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感知器＝煙や熱を感知して火災信号を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受信機に送る装置。天井面に取り付けます。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1. 天井に感知器用の台座をねじで固定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2. 台座に配線を接続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 ・L端子（ライン）：信号線（＋側）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 ・C端子（コモン）：共通線（−側）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3. 感知器本体を台座にはめ込む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 （右に回してロック）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4. 最後の感知器に終端抵抗器（10kΩ）を取付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C0392B"/>
                </a:solidFill>
                <a:latin typeface="Meiryo"/>
              </a:defRPr>
            </a:pPr>
            <a:r>
              <a:t>- 壁から60cm以上離して設置</a:t>
            </a:r>
          </a:p>
          <a:p>
            <a:pPr>
              <a:spcAft>
                <a:spcPts val="200"/>
              </a:spcAft>
              <a:defRPr sz="1400" b="1">
                <a:solidFill>
                  <a:srgbClr val="C0392B"/>
                </a:solidFill>
                <a:latin typeface="Meiryo"/>
              </a:defRPr>
            </a:pPr>
            <a:r>
              <a:t>- エアコン吹出口の近くには設置不可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（誤報の原因になります）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4. 具体的な手順 ― ステップ5・6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ステップ5：ベル・発信機の取付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【ベル（警報音装置）】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指定の位置に取り付ける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BL端子・BC端子に配線を接続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【発信機（手動の火災報知ボタン）】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廊下等の指定位置に取り付ける</a:t>
            </a:r>
          </a:p>
          <a:p>
            <a:pPr>
              <a:spcAft>
                <a:spcPts val="200"/>
              </a:spcAft>
              <a:defRPr sz="1400" b="1">
                <a:solidFill>
                  <a:srgbClr val="C0392B"/>
                </a:solidFill>
                <a:latin typeface="Meiryo"/>
              </a:defRPr>
            </a:pPr>
            <a:r>
              <a:t>- 設置高さ：床から0.8m〜1.5m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【ドアホン子機】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玄関等に取り付ける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【住戸用受信機】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各部屋のインターホン親機を取り付ける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ステップ6：受信機への配線接続 [最重要]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C0392B"/>
                </a:solidFill>
                <a:latin typeface="Meiryo"/>
              </a:defRPr>
            </a:pPr>
            <a:r>
              <a:t>この工程が最も重要です！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接続手順：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1. 電源スイッチがOFFになっていることを確認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2. 端子台のねじをゆるめる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3. ケーブルの芯線を端子台に差し込む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4. ねじをしっかり締める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5. 軽く引っ張って抜けないことを確認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6. 全配線完了後、結線表を作成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C0392B"/>
                </a:solidFill>
                <a:latin typeface="Meiryo"/>
              </a:defRPr>
            </a:pPr>
            <a:r>
              <a:t>- 端子記号を間違えると機器が動作しません</a:t>
            </a:r>
          </a:p>
          <a:p>
            <a:pPr>
              <a:spcAft>
                <a:spcPts val="200"/>
              </a:spcAft>
              <a:defRPr sz="1400" b="1">
                <a:solidFill>
                  <a:srgbClr val="C0392B"/>
                </a:solidFill>
                <a:latin typeface="Meiryo"/>
              </a:defRPr>
            </a:pPr>
            <a:r>
              <a:t>- 1本ずつ確認しながら接続してください</a:t>
            </a:r>
          </a:p>
          <a:p>
            <a:pPr>
              <a:spcAft>
                <a:spcPts val="200"/>
              </a:spcAft>
              <a:defRPr sz="1400" b="1">
                <a:solidFill>
                  <a:srgbClr val="C0392B"/>
                </a:solidFill>
                <a:latin typeface="Meiryo"/>
              </a:defRPr>
            </a:pPr>
            <a:r>
              <a:t>- 電源線（P1, P2）は最後に接続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4. 端子記号 一覧表（配線時に参照）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371600"/>
            <a:ext cx="2011680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05000" y="1397000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"/>
              </a:defRPr>
            </a:pPr>
            <a:r>
              <a:t>端子記号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371600"/>
            <a:ext cx="2743200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16680" y="1397000"/>
            <a:ext cx="259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"/>
              </a:defRPr>
            </a:pPr>
            <a:r>
              <a:t>意味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371600"/>
            <a:ext cx="3200400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9880" y="1397000"/>
            <a:ext cx="3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eiryo"/>
              </a:defRPr>
            </a:pPr>
            <a:r>
              <a:t>接続先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69164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5000" y="1717040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eiryo"/>
              </a:defRPr>
            </a:pPr>
            <a:r>
              <a:t>P1, P2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691640"/>
            <a:ext cx="2743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6680" y="1717040"/>
            <a:ext cx="259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電源端子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691640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9880" y="1717040"/>
            <a:ext cx="3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AC100V電源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2011680"/>
            <a:ext cx="201168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5000" y="2037080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eiryo"/>
              </a:defRPr>
            </a:pPr>
            <a:r>
              <a:t>L1, L2, Ln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2011680"/>
            <a:ext cx="27432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6680" y="2037080"/>
            <a:ext cx="259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感知器回線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011680"/>
            <a:ext cx="32004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9880" y="2037080"/>
            <a:ext cx="3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各階の感知器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2331719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05000" y="2357119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eiryo"/>
              </a:defRPr>
            </a:pPr>
            <a:r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2331719"/>
            <a:ext cx="2743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16680" y="2357119"/>
            <a:ext cx="259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コモン（共通線）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331719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9880" y="2357119"/>
            <a:ext cx="3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感知器の共通線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2651760"/>
            <a:ext cx="201168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05000" y="2677160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eiryo"/>
              </a:defRPr>
            </a:pPr>
            <a:r>
              <a:t>A, 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2651760"/>
            <a:ext cx="27432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6680" y="2677160"/>
            <a:ext cx="259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アドレス・電話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2651760"/>
            <a:ext cx="32004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9880" y="2677160"/>
            <a:ext cx="3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インターホン回線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297180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05000" y="2997200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eiryo"/>
              </a:defRPr>
            </a:pPr>
            <a:r>
              <a:t>B, BC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2971800"/>
            <a:ext cx="2743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16680" y="2997200"/>
            <a:ext cx="259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ベル回線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2971800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9880" y="2997200"/>
            <a:ext cx="3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ベル・ブザー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3291839"/>
            <a:ext cx="201168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05000" y="3317239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eiryo"/>
              </a:defRPr>
            </a:pPr>
            <a:r>
              <a:t>BL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0" y="3291839"/>
            <a:ext cx="27432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16680" y="3317239"/>
            <a:ext cx="259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ベルライン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291839"/>
            <a:ext cx="32004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59880" y="3317239"/>
            <a:ext cx="3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ベル信号線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0" y="3611879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05000" y="3637279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eiryo"/>
              </a:defRPr>
            </a:pPr>
            <a:r>
              <a:t>EA, 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3611879"/>
            <a:ext cx="2743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16680" y="3637279"/>
            <a:ext cx="259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戸外表示灯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3611879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59880" y="3637279"/>
            <a:ext cx="3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住戸用表示灯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3931920"/>
            <a:ext cx="201168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05000" y="3957320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eiryo"/>
              </a:defRPr>
            </a:pPr>
            <a:r>
              <a:t>EF, EC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40480" y="3931920"/>
            <a:ext cx="27432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6680" y="3957320"/>
            <a:ext cx="259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戸外通話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3931920"/>
            <a:ext cx="32004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59880" y="3957320"/>
            <a:ext cx="3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住戸用通話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0" y="425196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05000" y="4277360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eiryo"/>
              </a:defRPr>
            </a:pPr>
            <a:r>
              <a:t>EB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0" y="4251960"/>
            <a:ext cx="2743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16680" y="4277360"/>
            <a:ext cx="259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戸外ブザー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0" y="4251960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59880" y="4277360"/>
            <a:ext cx="3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住戸用ブザー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4572000"/>
            <a:ext cx="201168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05000" y="4597400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eiryo"/>
              </a:defRPr>
            </a:pPr>
            <a:r>
              <a:t>SP1, SP2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40480" y="4572000"/>
            <a:ext cx="27432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16680" y="4597400"/>
            <a:ext cx="259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スピーカー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3680" y="4572000"/>
            <a:ext cx="32004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59880" y="4597400"/>
            <a:ext cx="3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スピーカー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28800" y="4892039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905000" y="4917439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eiryo"/>
              </a:defRPr>
            </a:pPr>
            <a:r>
              <a:t>Fc, Fb, Fa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40480" y="4892039"/>
            <a:ext cx="2743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16680" y="4917439"/>
            <a:ext cx="259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防排煙連動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83680" y="4892039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59880" y="4917439"/>
            <a:ext cx="3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防火戸・排煙装置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5212079"/>
            <a:ext cx="201168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905000" y="5237479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eiryo"/>
              </a:defRPr>
            </a:pPr>
            <a:r>
              <a:t>D, DC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40480" y="5212079"/>
            <a:ext cx="27432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16680" y="5237479"/>
            <a:ext cx="259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戸開放回線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83680" y="5212079"/>
            <a:ext cx="32004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59880" y="5237479"/>
            <a:ext cx="3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自動ドア連動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28800" y="553212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05000" y="5557520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eiryo"/>
              </a:defRPr>
            </a:pPr>
            <a:r>
              <a:t>H, HL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40480" y="5532120"/>
            <a:ext cx="2743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916680" y="5557520"/>
            <a:ext cx="259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放送回線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83680" y="5532120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59880" y="5557520"/>
            <a:ext cx="3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放送設備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5852159"/>
            <a:ext cx="201168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905000" y="5877559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eiryo"/>
              </a:defRPr>
            </a:pPr>
            <a:r>
              <a:t>U, UL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5852159"/>
            <a:ext cx="27432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916680" y="5877559"/>
            <a:ext cx="259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非常電源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583680" y="5852159"/>
            <a:ext cx="32004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659880" y="5877559"/>
            <a:ext cx="3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非常電源装置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828800" y="617220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905000" y="6197600"/>
            <a:ext cx="185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eiryo"/>
              </a:defRPr>
            </a:pPr>
            <a:r>
              <a:t>N, NC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840480" y="6172200"/>
            <a:ext cx="2743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916680" y="6197600"/>
            <a:ext cx="259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地区音響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583680" y="6172200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659880" y="6197600"/>
            <a:ext cx="3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地区ベル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4. 具体的な手順 ― ステップ7・8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ステップ7：蓄電池（バッテリー）の接続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蓄電池＝停電時にも設備を動かすための予備電源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1. 受信機内部の蓄電池収納スペースに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 蓄電池を設置する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2. プラス（+）とマイナス（-）を正しく接続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 ・赤い線 → プラス（+）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 ・黒い線 → マイナス（-）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C0392B"/>
                </a:solidFill>
                <a:latin typeface="Meiryo"/>
              </a:defRPr>
            </a:pPr>
            <a:r>
              <a:t>極性（+と-）を逆に接続すると</a:t>
            </a:r>
          </a:p>
          <a:p>
            <a:pPr>
              <a:spcAft>
                <a:spcPts val="200"/>
              </a:spcAft>
              <a:defRPr sz="1400" b="1">
                <a:solidFill>
                  <a:srgbClr val="C0392B"/>
                </a:solidFill>
                <a:latin typeface="Meiryo"/>
              </a:defRPr>
            </a:pPr>
            <a:r>
              <a:t>機器が故障します。必ず確認！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蓄電池はNi-Cd（ニッケルカドミウム）タイプ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廃棄時はリサイクルに出してください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ステップ8：電源投入・動作確認テスト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1. 全ての配線が完了していることを再確認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2. 受信機の扉を閉める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3. AC100V電源を投入（ブレーカーON）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4. 受信機の電源スイッチをONにする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【火災報知系の確認】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各感知器回線が「正常」と表示されるか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加煙試験器で感知器を作動させ「火災」表示確認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ベルが鳴動するか確認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発信機ボタンで受信機が反応するか確認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【インターホン系の確認】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ドアホン子機の呼出→住戸機が鳴動するか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通話ができるか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解錠機能の動作確認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C0392B"/>
                </a:solidFill>
                <a:latin typeface="Meiryo"/>
              </a:defRPr>
            </a:pPr>
            <a:r>
              <a:t>- 異常時は電源を切ってから配線確認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4. 具体的な手順 ― ステップ9・10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ステップ9：銘板の記入・仕上げ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受信機前面の銘板に以下を記入：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・設置場所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・設置年月日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・施工業者名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DIPスイッチ（機器の設定スイッチ）を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施工図面の指示通りに設定（OP1〜OP4）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受信機内部を清掃し、扉を閉めて施錠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施工完了報告書を作成する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ステップ10：消防検査の立会い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管轄の消防署に検査申請を行う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消防検査員の立会いのもと、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全ての機器の動作確認を行う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検査で指摘された事項があれば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  速やかに是正する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- 検査合格後、検査済証を受領する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</a:p>
          <a:p>
            <a:pPr>
              <a:spcAft>
                <a:spcPts val="200"/>
              </a:spcAft>
              <a:defRPr sz="1400" b="1">
                <a:solidFill>
                  <a:srgbClr val="C0392B"/>
                </a:solidFill>
                <a:latin typeface="Meiryo"/>
              </a:defRPr>
            </a:pPr>
            <a:r>
              <a:t>- 消防検査に合格するまで</a:t>
            </a:r>
          </a:p>
          <a:p>
            <a:pPr>
              <a:spcAft>
                <a:spcPts val="200"/>
              </a:spcAft>
              <a:defRPr sz="1400" b="1">
                <a:solidFill>
                  <a:srgbClr val="C0392B"/>
                </a:solidFill>
                <a:latin typeface="Meiryo"/>
              </a:defRPr>
            </a:pPr>
            <a:r>
              <a:t>  建物の使用は開始できません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5. トラブルシューティング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371600"/>
            <a:ext cx="2286000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3480" y="1409700"/>
            <a:ext cx="213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症状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371600"/>
            <a:ext cx="3200400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9480" y="1409700"/>
            <a:ext cx="304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考えられる原因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371600"/>
            <a:ext cx="3657600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9880" y="1409700"/>
            <a:ext cx="350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対処法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029968"/>
            <a:ext cx="2286000" cy="640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3480" y="2068068"/>
            <a:ext cx="213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電源が入らない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029968"/>
            <a:ext cx="3200400" cy="640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2068068"/>
            <a:ext cx="304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電源ケーブルの接続不良</a:t>
            </a:r>
            <a:br/>
            <a:r>
              <a:t>ブレーカーがOFF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029968"/>
            <a:ext cx="3657600" cy="640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9880" y="2068068"/>
            <a:ext cx="350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電源配線を確認</a:t>
            </a:r>
            <a:br/>
            <a:r>
              <a:t>ブレーカーをONにする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2688336"/>
            <a:ext cx="228600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3480" y="2726436"/>
            <a:ext cx="213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「断線」の表示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688336"/>
            <a:ext cx="320040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80" y="2726436"/>
            <a:ext cx="304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配線が切れている</a:t>
            </a:r>
            <a:br/>
            <a:r>
              <a:t>端子接続が外れている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688336"/>
            <a:ext cx="365760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9880" y="2726436"/>
            <a:ext cx="350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該当回線の配線を</a:t>
            </a:r>
            <a:br/>
            <a:r>
              <a:t>1本ずつ確認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3346704"/>
            <a:ext cx="2286000" cy="640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3480" y="3384804"/>
            <a:ext cx="213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感知器が反応しない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3346704"/>
            <a:ext cx="3200400" cy="640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9480" y="3384804"/>
            <a:ext cx="304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台座にしっかり</a:t>
            </a:r>
            <a:br/>
            <a:r>
              <a:t>はまっていない/配線ミス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346704"/>
            <a:ext cx="3657600" cy="640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9880" y="3384804"/>
            <a:ext cx="350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感知器を付け直す</a:t>
            </a:r>
            <a:br/>
            <a:r>
              <a:t>L・C端子の配線確認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4005072"/>
            <a:ext cx="228600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3480" y="4043172"/>
            <a:ext cx="213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誤報が出る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4005072"/>
            <a:ext cx="320040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9480" y="4043172"/>
            <a:ext cx="304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感知器周辺の環境</a:t>
            </a:r>
            <a:br/>
            <a:r>
              <a:t>終端抵抗の未接続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005072"/>
            <a:ext cx="365760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9880" y="4043172"/>
            <a:ext cx="350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設置環境を確認</a:t>
            </a:r>
            <a:br/>
            <a:r>
              <a:t>終端抵抗器(10kΩ)確認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4663439"/>
            <a:ext cx="2286000" cy="640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3480" y="4701539"/>
            <a:ext cx="213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ベルが鳴らない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0" y="4663439"/>
            <a:ext cx="3200400" cy="640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9480" y="4701539"/>
            <a:ext cx="304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ベル回線の配線ミス</a:t>
            </a:r>
            <a:br/>
            <a:r>
              <a:t>ベル本体の故障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663439"/>
            <a:ext cx="3657600" cy="640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9880" y="4701539"/>
            <a:ext cx="350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BL・BC端子の接続確認</a:t>
            </a:r>
            <a:br/>
            <a:r>
              <a:t>ベル本体を交換して試す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5321808"/>
            <a:ext cx="228600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73480" y="5359908"/>
            <a:ext cx="213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通話ができない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5321808"/>
            <a:ext cx="320040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59480" y="5359908"/>
            <a:ext cx="304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通話回線の配線ミス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5321808"/>
            <a:ext cx="365760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59880" y="5359908"/>
            <a:ext cx="350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EA・EL・EF・EC</a:t>
            </a:r>
            <a:br/>
            <a:r>
              <a:t>端子の接続確認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7280" y="5980176"/>
            <a:ext cx="2286000" cy="640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73480" y="6018276"/>
            <a:ext cx="213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充電ランプ不点灯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80" y="5980176"/>
            <a:ext cx="3200400" cy="640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59480" y="6018276"/>
            <a:ext cx="304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蓄電池の接続不良</a:t>
            </a:r>
            <a:br/>
            <a:r>
              <a:t>極性間違い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5980176"/>
            <a:ext cx="3657600" cy="640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59880" y="6018276"/>
            <a:ext cx="350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eiryo"/>
              </a:defRPr>
            </a:pPr>
            <a:r>
              <a:t>+/-の接続を確認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5. よくある質問（FAQ）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10058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22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eiryo"/>
              </a:defRPr>
            </a:pPr>
            <a:r>
              <a:t>Q1. 配線のケーブル種類がわかりません。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01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A1. 施工図面に記載されています。一般的に、感知器回線にはHP（耐熱ペア線）、</a:t>
            </a:r>
            <a:br/>
            <a:r>
              <a:t>インターホン回線にはFCPV（ビニル被覆ペア線）等を使用します。不明な場合は上長に確認。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1051560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73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eiryo"/>
              </a:defRPr>
            </a:pPr>
            <a:r>
              <a:t>Q2. 終端抵抗器はどこに付けますか？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53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A2. 各回線の最後の機器（一番遠い感知器等）に取り付けます。</a:t>
            </a:r>
            <a:br/>
            <a:r>
              <a:t>受信機から見て最も末端の機器です。抵抗値は10kΩです。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10515600" cy="10058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25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eiryo"/>
              </a:defRPr>
            </a:pPr>
            <a:r>
              <a:t>Q3. 感知器の種類の使い分けは？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04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A3. 煙感知器は居室・廊下に、熱感知器はキッチン・浴室付近に使用します。</a:t>
            </a:r>
            <a:br/>
            <a:r>
              <a:t>施工図面の指示に従ってください。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26279"/>
            <a:ext cx="1051560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707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eiryo"/>
              </a:defRPr>
            </a:pPr>
            <a:r>
              <a:t>Q4. 配線を間違えた場合は？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5647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A4. まず電源を切ってください。その後、結線表と照らし合わせて正しい端子に接続し直してください。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77840"/>
            <a:ext cx="10515600" cy="10058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28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Meiryo"/>
              </a:defRPr>
            </a:pPr>
            <a:r>
              <a:t>Q5. 作業中に分からないことが出たら？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908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eiryo"/>
              </a:defRPr>
            </a:pPr>
            <a:r>
              <a:t>A5. 自己判断で作業を進めないでください。必ず上長または先輩社員に相談してください。</a:t>
            </a:r>
            <a:br/>
            <a:r>
              <a:t>安全に関わる設備ですので、確認を怠ると人命に関わります。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安全上の重要注意事項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6858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1747520"/>
            <a:ext cx="41148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856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77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Meiryo"/>
              </a:defRPr>
            </a:pPr>
            <a:r>
              <a:t>感電に注意してください。配線作業は必ず電源を切った状態で行ってください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68880"/>
            <a:ext cx="10332720" cy="6858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468880"/>
            <a:ext cx="73152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2570480"/>
            <a:ext cx="41148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6085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595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Meiryo"/>
              </a:defRPr>
            </a:pPr>
            <a:r>
              <a:t>濡れた手で作業しないでください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291840"/>
            <a:ext cx="10332720" cy="6858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291840"/>
            <a:ext cx="73152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3393440"/>
            <a:ext cx="41148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4315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18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Meiryo"/>
              </a:defRPr>
            </a:pPr>
            <a:r>
              <a:t>本体を分解しないでください。修理はメーカーまたは有資格者が行います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114800"/>
            <a:ext cx="10332720" cy="6858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114800"/>
            <a:ext cx="73152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88720" y="4216400"/>
            <a:ext cx="41148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2545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241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Meiryo"/>
              </a:defRPr>
            </a:pPr>
            <a:r>
              <a:t>必ずアース線（接地線）を接続してください。漏電による感電を防ぎます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937760"/>
            <a:ext cx="10332720" cy="6858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937760"/>
            <a:ext cx="73152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8720" y="5039360"/>
            <a:ext cx="41148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0774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064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Meiryo"/>
              </a:defRPr>
            </a:pPr>
            <a:r>
              <a:t>高所作業時は必ず安全帯を使用してください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760720"/>
            <a:ext cx="10332720" cy="6858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5760720"/>
            <a:ext cx="73152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88720" y="5862320"/>
            <a:ext cx="41148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9004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887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Meiryo"/>
              </a:defRPr>
            </a:pPr>
            <a:r>
              <a:t>作業後は必ず消防検査を受けてください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eiryo"/>
              </a:defRPr>
            </a:pPr>
            <a:r>
              <a:t>マニュアルは以上です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926080"/>
            <a:ext cx="3017520" cy="36576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AAAA"/>
                </a:solidFill>
                <a:latin typeface="Meiryo"/>
              </a:defRPr>
            </a:pPr>
            <a:r>
              <a:t>不明点は自己判断せず、必ず上長・先輩社員に相談してください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CCEE"/>
                </a:solidFill>
                <a:latin typeface="Meiryo"/>
              </a:defRPr>
            </a:pPr>
            <a:r>
              <a:t>対象機器：Panasonic シンプルP-1シリーズ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AACC"/>
                </a:solidFill>
                <a:latin typeface="Meiryo"/>
              </a:defRPr>
            </a:pPr>
            <a:r>
              <a:t>施工説明書 8A3 P02 00003 / S0615-20423AB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AACC"/>
                </a:solidFill>
                <a:latin typeface="Meiryo"/>
              </a:defRPr>
            </a:pPr>
            <a:r>
              <a:t>作成日：2026年6月17日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